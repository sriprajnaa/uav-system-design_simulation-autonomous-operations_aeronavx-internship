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0"/>
            <a:ext cx="8686800" cy="54864"/>
          </a:xfrm>
          <a:prstGeom prst="rect">
            <a:avLst/>
          </a:prstGeom>
          <a:solidFill>
            <a:srgbClr val="1B529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AeroNavX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Drone Design,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&amp; AI Vision System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Unlox Drone Engineering Program  |  April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ArduPilot SITL  ·  DroneKit-Python  ·  OpenCV  ·  Linux Mint 22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20240" cy="137160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Modules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914400"/>
            <a:ext cx="1920240" cy="1371600"/>
          </a:xfrm>
          <a:prstGeom prst="rect">
            <a:avLst/>
          </a:prstGeom>
          <a:solidFill>
            <a:srgbClr val="00C896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9144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51460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Scripts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1920240" cy="137160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9144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66344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Logs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12280" y="914400"/>
            <a:ext cx="1920240" cy="1371600"/>
          </a:xfrm>
          <a:prstGeom prst="rect">
            <a:avLst/>
          </a:prstGeom>
          <a:solidFill>
            <a:srgbClr val="1B529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9144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81228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Slides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AeroNavX?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5760" y="2971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AeroNavX is a fully autonomous quadcopter simulation system covering the complete UAV engineering stack — from mechanical design and power systems to autonomous Python programming and AI computer vision. Built and tested on ArduPilot SITL on Linux Mint 22.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Platform: ArduPilot SITL  |  Language: Python 3.12  |  OS: Linux Mint 22 (Ubuntu 24.04)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&amp; 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777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AeroNavX Solution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840480" cy="5029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1188720"/>
            <a:ext cx="4206240" cy="5029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384048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Frame design optimization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420624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450mm X-frame CAD in Fusion 360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3840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755648"/>
            <a:ext cx="42062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55648"/>
            <a:ext cx="384048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Power system configuration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755648"/>
            <a:ext cx="420624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2.34:1 TWR with EMAX 2216 + 4S LiPo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322576"/>
            <a:ext cx="3840480" cy="5029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2322576"/>
            <a:ext cx="4206240" cy="5029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322576"/>
            <a:ext cx="384048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Real-time sensor noise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322576"/>
            <a:ext cx="420624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EKF3 filter + IMU calibration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889504"/>
            <a:ext cx="3840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2889504"/>
            <a:ext cx="42062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889504"/>
            <a:ext cx="384048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Unstable autonomous navigation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889504"/>
            <a:ext cx="420624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DroneKit waypoint mission scripts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456432"/>
            <a:ext cx="3840480" cy="5029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3456432"/>
            <a:ext cx="4206240" cy="5029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456432"/>
            <a:ext cx="384048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Inaccurate landing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3456432"/>
            <a:ext cx="420624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Vision-based OpenCV landing system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023360"/>
            <a:ext cx="3840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4023360"/>
            <a:ext cx="42062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023360"/>
            <a:ext cx="384048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Lack of obstacle awareness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4023360"/>
            <a:ext cx="420624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Real-time OpenCV obstacle detection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— DRONE FRAME DESIGN (CAD)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200400" cy="4572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5" name="Shape 3"/>
          <p:cNvSpPr/>
          <p:nvPr/>
        </p:nvSpPr>
        <p:spPr>
          <a:xfrm>
            <a:off x="3566160" y="822960"/>
            <a:ext cx="2560320" cy="4572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32004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Type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822960"/>
            <a:ext cx="256032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X-Quadcopter Config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35024"/>
            <a:ext cx="3200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1335024"/>
            <a:ext cx="25603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35024"/>
            <a:ext cx="32004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Motor-to-Motor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1335024"/>
            <a:ext cx="256032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450mm diagonal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847088"/>
            <a:ext cx="3200400" cy="4572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1847088"/>
            <a:ext cx="2560320" cy="4572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847088"/>
            <a:ext cx="32004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Material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1847088"/>
            <a:ext cx="256032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fiber composite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359152"/>
            <a:ext cx="3200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566160" y="2359152"/>
            <a:ext cx="25603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359152"/>
            <a:ext cx="32004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Plate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2359152"/>
            <a:ext cx="256032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 fiberglass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871216"/>
            <a:ext cx="3200400" cy="4572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566160" y="2871216"/>
            <a:ext cx="2560320" cy="4572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871216"/>
            <a:ext cx="32004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Propeller Clearance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2871216"/>
            <a:ext cx="256032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15mm minimum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383280"/>
            <a:ext cx="3200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566160" y="3383280"/>
            <a:ext cx="25603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Gear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66160" y="3383280"/>
            <a:ext cx="256032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60mm clearance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895344"/>
            <a:ext cx="3200400" cy="4572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566160" y="3895344"/>
            <a:ext cx="2560320" cy="4572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895344"/>
            <a:ext cx="32004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of Gravity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566160" y="3895344"/>
            <a:ext cx="256032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 center ±5mm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407408"/>
            <a:ext cx="3200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3566160" y="4407408"/>
            <a:ext cx="25603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407408"/>
            <a:ext cx="32004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Frame Weight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66160" y="4407408"/>
            <a:ext cx="256032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282g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822960"/>
            <a:ext cx="2468880" cy="406908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822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Highlights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46520" y="1234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X-config for stable autonomous flight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46520" y="1828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Carbon arms reduce vibration to IMU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46520" y="2423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Pixhawk mounted on anti-vibration pads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46520" y="3017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PDB integrated into bottom plate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46520" y="3611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Camera mount on forward arm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4652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Compatible with 10" propellers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POWER &amp; PROPULSION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920240" cy="365760"/>
          </a:xfrm>
          <a:prstGeom prst="rect">
            <a:avLst/>
          </a:prstGeom>
          <a:solidFill>
            <a:srgbClr val="1B529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920240" cy="9144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34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EMAX 2216 KV880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850g thrust each · 22A max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822960"/>
            <a:ext cx="192024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188720"/>
            <a:ext cx="1920240" cy="9144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234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Hobbywing XRotor 30A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1645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OPTO · 2S-4S · PWM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822960"/>
            <a:ext cx="1920240" cy="36576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1920240" cy="9144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234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APC 10×4.5 GFN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1645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10" dia · 4.5" pitch · CW+CCW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822960"/>
            <a:ext cx="1920240" cy="3657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1188720"/>
            <a:ext cx="1920240" cy="9144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1234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Tattu 4S 5200mAh 45C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1645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14.8V · 380g · XT60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Calculations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5760" y="2788920"/>
            <a:ext cx="4114800" cy="50292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2788920"/>
            <a:ext cx="73152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2788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Thrust:  4 × 850g = 3,400g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355848"/>
            <a:ext cx="4114800" cy="50292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3355848"/>
            <a:ext cx="73152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35584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All-Up Weight (AUW):  1,450g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922776"/>
            <a:ext cx="4114800" cy="50292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" y="3922776"/>
            <a:ext cx="73152" cy="5029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392277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Thrust-to-Weight Ratio:  3400 / 1450 = 2.34 : 1 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2788920"/>
            <a:ext cx="4114800" cy="50292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754880" y="2788920"/>
            <a:ext cx="73152" cy="502920"/>
          </a:xfrm>
          <a:prstGeom prst="rect">
            <a:avLst/>
          </a:prstGeom>
          <a:solidFill>
            <a:srgbClr val="1B5299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2788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Throttle:  ~42.6% (efficient)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3355848"/>
            <a:ext cx="4114800" cy="50292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754880" y="3355848"/>
            <a:ext cx="73152" cy="50292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335584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Current (mission):  ~18A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0" y="3922776"/>
            <a:ext cx="4114800" cy="50292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754880" y="3922776"/>
            <a:ext cx="73152" cy="5029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392277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Flight Time:  ~13.9 minutes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FLIGHT CONTROLLER &amp; SENSOR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Stack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103120" cy="45720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6" name="Shape 4"/>
          <p:cNvSpPr/>
          <p:nvPr/>
        </p:nvSpPr>
        <p:spPr>
          <a:xfrm>
            <a:off x="2468880" y="1188720"/>
            <a:ext cx="2011680" cy="45720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21031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Controller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Pixhawk 2.4.8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00784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468880" y="1700784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00784"/>
            <a:ext cx="21031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700784"/>
            <a:ext cx="201168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ArduCopter 4.x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12848"/>
            <a:ext cx="2103120" cy="45720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2212848"/>
            <a:ext cx="2011680" cy="45720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212848"/>
            <a:ext cx="21031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u-blox M8N w/ compass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468880" y="2724912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724912"/>
            <a:ext cx="21031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2724912"/>
            <a:ext cx="201168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redundant (ICM/MPU/LSM)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2103120" cy="45720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468880" y="3236976"/>
            <a:ext cx="2011680" cy="45720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236976"/>
            <a:ext cx="21031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Barometer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3236976"/>
            <a:ext cx="201168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MS5611 (temp compensated)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2468880" y="3749040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749040"/>
            <a:ext cx="21031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Software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QGroundControl / Mission Planner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777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Calibrations Performed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46320" y="1188720"/>
            <a:ext cx="3931920" cy="457200"/>
          </a:xfrm>
          <a:prstGeom prst="rect">
            <a:avLst/>
          </a:prstGeom>
          <a:solidFill>
            <a:srgbClr val="F0FFF8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Accelerometer (6-position)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1700784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1700784"/>
            <a:ext cx="39319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Compass (live onboard)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2212848"/>
            <a:ext cx="3931920" cy="457200"/>
          </a:xfrm>
          <a:prstGeom prst="rect">
            <a:avLst/>
          </a:prstGeom>
          <a:solidFill>
            <a:srgbClr val="F0FFF8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212848"/>
            <a:ext cx="39319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Radio (endpoints + trim)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2724912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724912"/>
            <a:ext cx="39319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ESC (all 4 synchronized)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46320" y="3236976"/>
            <a:ext cx="3931920" cy="457200"/>
          </a:xfrm>
          <a:prstGeom prst="rect">
            <a:avLst/>
          </a:prstGeom>
          <a:solidFill>
            <a:srgbClr val="F0FFF8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3236976"/>
            <a:ext cx="39319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Level calibration / hover trim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46320" y="3749040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749040"/>
            <a:ext cx="39319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Geo-fence parameter upload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52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AUTONOMOUS FLIGHT PROGRAMMING (DroneKit)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029200" cy="40233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6868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Connect to SITL simulator
</a:t>
            </a:r>
            <a:pPr indent="0" marL="0">
              <a:buNone/>
            </a:pPr>
            <a:r>
              <a:rPr lang="en-US" sz="1100" dirty="0">
                <a:solidFill>
                  <a:srgbClr val="7ECF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connect(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'127.0.0.1:14550'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wait_ready=True)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arm_and_takeoff(target_alt):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vehicle.mode = VehicleMode(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"GUIDED"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vehicle.armed =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vehicle.simple_takeoff(target_alt)
</a:t>
            </a:r>
            <a:pPr indent="0" marL="0">
              <a:buNone/>
            </a:pPr>
            <a:r>
              <a:rPr lang="en-US" sz="1100" dirty="0">
                <a:solidFill>
                  <a:srgbClr val="6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Navigate 4 waypoints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wp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waypoints: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vehicle.simple_goto(wp)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100" dirty="0">
                <a:solidFill>
                  <a:srgbClr val="6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 to Launch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vehicle.mode = VehicleMode(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"RTL"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0" y="822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Results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0" y="1325880"/>
            <a:ext cx="3200400" cy="484632"/>
          </a:xfrm>
          <a:prstGeom prst="rect">
            <a:avLst/>
          </a:prstGeom>
          <a:solidFill>
            <a:srgbClr val="0D224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0" y="1325880"/>
            <a:ext cx="1097280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Connected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66560" y="1325880"/>
            <a:ext cx="2103120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SITL on 127.0.0.1:14550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1874520"/>
            <a:ext cx="3200400" cy="484632"/>
          </a:xfrm>
          <a:prstGeom prst="rect">
            <a:avLst/>
          </a:prstGeom>
          <a:solidFill>
            <a:srgbClr val="0D2240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1874520"/>
            <a:ext cx="1097280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Armed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1874520"/>
            <a:ext cx="2103120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mode confirmed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2423160"/>
            <a:ext cx="3200400" cy="484632"/>
          </a:xfrm>
          <a:prstGeom prst="rect">
            <a:avLst/>
          </a:prstGeom>
          <a:solidFill>
            <a:srgbClr val="0D2240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2423160"/>
            <a:ext cx="1097280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Takeoff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2423160"/>
            <a:ext cx="2103120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19.5m (target 20m)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2971800"/>
            <a:ext cx="3200400" cy="484632"/>
          </a:xfrm>
          <a:prstGeom prst="rect">
            <a:avLst/>
          </a:prstGeom>
          <a:solidFill>
            <a:srgbClr val="0D224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2971800"/>
            <a:ext cx="1097280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WP 1-4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2971800"/>
            <a:ext cx="2103120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visited in sequence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3520440"/>
            <a:ext cx="3200400" cy="484632"/>
          </a:xfrm>
          <a:prstGeom prst="rect">
            <a:avLst/>
          </a:prstGeom>
          <a:solidFill>
            <a:srgbClr val="0D2240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3520440"/>
            <a:ext cx="1097280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RTL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3520440"/>
            <a:ext cx="2103120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Auto-return + land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4069080"/>
            <a:ext cx="3200400" cy="484632"/>
          </a:xfrm>
          <a:prstGeom prst="rect">
            <a:avLst/>
          </a:prstGeom>
          <a:solidFill>
            <a:srgbClr val="0D224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4069080"/>
            <a:ext cx="1097280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Logged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4069080"/>
            <a:ext cx="2103120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 .BIN flight logs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OBSTACLE DETECTION &amp; AVOIDANCE (OpenCV)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Pipeline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234440" cy="822960"/>
          </a:xfrm>
          <a:prstGeom prst="rect">
            <a:avLst/>
          </a:prstGeom>
          <a:solidFill>
            <a:srgbClr val="1B5299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118872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1188720"/>
            <a:ext cx="1234440" cy="82296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11887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BGR → HSV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118872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1234440" cy="822960"/>
          </a:xfrm>
          <a:prstGeom prst="rect">
            <a:avLst/>
          </a:prstGeom>
          <a:solidFill>
            <a:srgbClr val="00C896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1887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Mask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118872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1234440" cy="82296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1887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89320" y="118872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1234440" cy="822960"/>
          </a:xfrm>
          <a:prstGeom prst="rect">
            <a:avLst/>
          </a:prstGeom>
          <a:solidFill>
            <a:srgbClr val="1B5299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11887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52360" y="118872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80960" y="1188720"/>
            <a:ext cx="1234440" cy="822960"/>
          </a:xfrm>
          <a:prstGeom prst="rect">
            <a:avLst/>
          </a:prstGeom>
          <a:solidFill>
            <a:srgbClr val="CC3333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80960" y="11887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2240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 Types Detected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5760" y="26517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 obstacles (HSV 0-10, 120-255, 70-255)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108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Walls and large surfaces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566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Markers and colored objects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0233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 detection area: 500 px²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2240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Avoidance Maneuvers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846320" y="2651760"/>
            <a:ext cx="3931920" cy="5943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9" name="Shape 27"/>
          <p:cNvSpPr/>
          <p:nvPr/>
        </p:nvSpPr>
        <p:spPr>
          <a:xfrm>
            <a:off x="4846320" y="2651760"/>
            <a:ext cx="73152" cy="59436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26517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Stop: Halt forward motion immediately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310128"/>
            <a:ext cx="3931920" cy="5943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3310128"/>
            <a:ext cx="73152" cy="594360"/>
          </a:xfrm>
          <a:prstGeom prst="rect">
            <a:avLst/>
          </a:prstGeom>
          <a:solidFill>
            <a:srgbClr val="1B5299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331012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Lateral: Move sideways to clear obstacle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3968496"/>
            <a:ext cx="3931920" cy="5943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5" name="Shape 33"/>
          <p:cNvSpPr/>
          <p:nvPr/>
        </p:nvSpPr>
        <p:spPr>
          <a:xfrm>
            <a:off x="4846320" y="3968496"/>
            <a:ext cx="73152" cy="59436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396849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Climb: Increase altitude above obstacle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Result: Obstacle successfully detected via webcam feed with bounding box drawn and avoidance action printed in real-time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VISION-BASED LANDING SYSTEM (AI/CV)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Algorithm 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2004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1234440"/>
            <a:ext cx="3657600" cy="4572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234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camera frame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55648"/>
            <a:ext cx="32004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7556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3232" y="1755648"/>
            <a:ext cx="3657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1755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to HSV color space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76856"/>
            <a:ext cx="32004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27685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3232" y="2276856"/>
            <a:ext cx="3657600" cy="4572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227685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for green landing pad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98064"/>
            <a:ext cx="32004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79806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3232" y="2798064"/>
            <a:ext cx="3657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" y="279806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largest contour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319272"/>
            <a:ext cx="32004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31927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3232" y="3319272"/>
            <a:ext cx="3657600" cy="4572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33192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pad centroid (cx, cy)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32004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840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3232" y="3840480"/>
            <a:ext cx="3657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" y="3840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alignment error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error_x = cx - frame_w/2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error_y = cy - frame_h/2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361688"/>
            <a:ext cx="320040" cy="4572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3616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13232" y="4361688"/>
            <a:ext cx="3657600" cy="4572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2" name="Text 30"/>
          <p:cNvSpPr/>
          <p:nvPr/>
        </p:nvSpPr>
        <p:spPr>
          <a:xfrm>
            <a:off x="758952" y="4361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|error| &lt; 20px → LAND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 → correct position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777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Test Results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029200" y="1234440"/>
            <a:ext cx="3749040" cy="329184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0" y="13258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pad detected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live webcam feed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120640" y="2057400"/>
            <a:ext cx="356616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0" y="2057400"/>
            <a:ext cx="146304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X: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83680" y="2057400"/>
            <a:ext cx="210312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-285 to -298 px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120640" y="2532888"/>
            <a:ext cx="3566160" cy="429768"/>
          </a:xfrm>
          <a:prstGeom prst="rect">
            <a:avLst/>
          </a:prstGeom>
          <a:solidFill>
            <a:srgbClr val="E0F0FF"/>
          </a:solidFill>
          <a:ln/>
        </p:spPr>
      </p:sp>
      <p:sp>
        <p:nvSpPr>
          <p:cNvPr id="40" name="Text 38"/>
          <p:cNvSpPr/>
          <p:nvPr/>
        </p:nvSpPr>
        <p:spPr>
          <a:xfrm>
            <a:off x="5120640" y="2532888"/>
            <a:ext cx="146304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Y: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83680" y="2532888"/>
            <a:ext cx="210312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to 124 px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120640" y="3008376"/>
            <a:ext cx="356616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5120640" y="3008376"/>
            <a:ext cx="146304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83680" y="3008376"/>
            <a:ext cx="210312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+ Forward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120640" y="3483864"/>
            <a:ext cx="3566160" cy="429768"/>
          </a:xfrm>
          <a:prstGeom prst="rect">
            <a:avLst/>
          </a:prstGeom>
          <a:solidFill>
            <a:srgbClr val="E0F0FF"/>
          </a:solidFill>
          <a:ln/>
        </p:spPr>
      </p:sp>
      <p:sp>
        <p:nvSpPr>
          <p:cNvPr id="46" name="Text 44"/>
          <p:cNvSpPr/>
          <p:nvPr/>
        </p:nvSpPr>
        <p:spPr>
          <a:xfrm>
            <a:off x="5120640" y="3483864"/>
            <a:ext cx="146304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Detection: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83680" y="3483864"/>
            <a:ext cx="210312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(30 fps)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120640" y="3959352"/>
            <a:ext cx="356616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5120640" y="3959352"/>
            <a:ext cx="146304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msg: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83680" y="3959352"/>
            <a:ext cx="210312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Adjusting position...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120640" y="4434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'Vision landing system complete!' ✓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AIRSPACE COMPLIANCE &amp; GEO-FENCING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DGCA (India) Regulations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429768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393192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Max altitude: 120m AGL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39319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64208"/>
            <a:ext cx="393192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Visual Line of Sight required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39696"/>
            <a:ext cx="3931920" cy="429768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39696"/>
            <a:ext cx="393192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No-fly within 5km of airports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15184"/>
            <a:ext cx="39319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615184"/>
            <a:ext cx="393192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Daylight operations only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90672"/>
            <a:ext cx="3931920" cy="429768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090672"/>
            <a:ext cx="393192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UIN required (drones &gt;250g)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39319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566160"/>
            <a:ext cx="393192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RPC for commercial operations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ArduPilot Geo-Fence Config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2194560" cy="429768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1188720"/>
            <a:ext cx="1920240" cy="429768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188720"/>
            <a:ext cx="219456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FENCE_ENABLE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1188720"/>
            <a:ext cx="192024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(Active)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664208"/>
            <a:ext cx="219456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0" y="1664208"/>
            <a:ext cx="192024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1664208"/>
            <a:ext cx="219456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FENCE_TYPE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1664208"/>
            <a:ext cx="192024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+ Altitude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139696"/>
            <a:ext cx="2194560" cy="429768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0" y="2139696"/>
            <a:ext cx="1920240" cy="429768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2139696"/>
            <a:ext cx="219456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FENCE_ACTION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2139696"/>
            <a:ext cx="192024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on breach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615184"/>
            <a:ext cx="219456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0" y="2615184"/>
            <a:ext cx="192024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2615184"/>
            <a:ext cx="219456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FENCE_ALT_MAX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2615184"/>
            <a:ext cx="192024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090672"/>
            <a:ext cx="2194560" cy="429768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0" y="3090672"/>
            <a:ext cx="1920240" cy="429768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3090672"/>
            <a:ext cx="219456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FENCE_RADIUS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3090672"/>
            <a:ext cx="192024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3566160"/>
            <a:ext cx="219456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3566160"/>
            <a:ext cx="192024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663440" y="3566160"/>
            <a:ext cx="219456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RTL_ALT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58000" y="3566160"/>
            <a:ext cx="192024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 (30,000mm)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160520"/>
            <a:ext cx="9144000" cy="640080"/>
          </a:xfrm>
          <a:prstGeom prst="rect">
            <a:avLst/>
          </a:prstGeom>
          <a:solidFill>
            <a:srgbClr val="FFF8E8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Failsafes Active: Battery (RTL @3.5V/cell, Land @3.3V) · RC Loss (RTL) · GPS Loss (AltHold/Land) · Geo-fence breach (RTL)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52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FINAL INTEGRATED SIMULATION MISSION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508760" cy="146304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4124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&amp; TAKEOFF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682496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 to 20m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mode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822960"/>
            <a:ext cx="228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011680" y="822960"/>
            <a:ext cx="1508760" cy="1463040"/>
          </a:xfrm>
          <a:prstGeom prst="rect">
            <a:avLst/>
          </a:prstGeom>
          <a:solidFill>
            <a:srgbClr val="00C89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84124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11680" y="129844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WAYPOINT NAV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682496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GPS waypoints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10s per leg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822960"/>
            <a:ext cx="228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749040" y="822960"/>
            <a:ext cx="1508760" cy="146304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9040" y="84124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49040" y="129844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 DETECT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1682496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vision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Avoidance trigger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822960"/>
            <a:ext cx="228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0" y="822960"/>
            <a:ext cx="1508760" cy="1463040"/>
          </a:xfrm>
          <a:prstGeom prst="rect">
            <a:avLst/>
          </a:prstGeom>
          <a:solidFill>
            <a:srgbClr val="CC77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0" y="84124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0" y="129844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LAND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1682496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 detection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&lt; 20px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95160" y="822960"/>
            <a:ext cx="228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223760" y="822960"/>
            <a:ext cx="1508760" cy="1463040"/>
          </a:xfrm>
          <a:prstGeom prst="rect">
            <a:avLst/>
          </a:prstGeom>
          <a:solidFill>
            <a:srgbClr val="00C89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23760" y="84124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23760" y="129844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+ LAND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1682496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return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land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Log Evidence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65760" y="2926080"/>
            <a:ext cx="8412480" cy="438912"/>
          </a:xfrm>
          <a:prstGeom prst="rect">
            <a:avLst/>
          </a:prstGeom>
          <a:solidFill>
            <a:srgbClr val="0D224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9260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File: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28800" y="2926080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00000001.BIN – 00000004.BIN (4 sessions)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410712"/>
            <a:ext cx="8412480" cy="438912"/>
          </a:xfrm>
          <a:prstGeom prst="rect">
            <a:avLst/>
          </a:prstGeom>
          <a:solidFill>
            <a:srgbClr val="0D2240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4107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828800" y="341071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ArduPilot Binary Log (MAVLink telemetry)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895344"/>
            <a:ext cx="8412480" cy="438912"/>
          </a:xfrm>
          <a:prstGeom prst="rect">
            <a:avLst/>
          </a:prstGeom>
          <a:solidFill>
            <a:srgbClr val="0D224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8953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828800" y="3895344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IMU, GPS, altitude, throttle, mode transitions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379976"/>
            <a:ext cx="8412480" cy="438912"/>
          </a:xfrm>
          <a:prstGeom prst="rect">
            <a:avLst/>
          </a:prstGeom>
          <a:solidFill>
            <a:srgbClr val="0D2240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37997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828800" y="4379976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Planner Log Viewer / MAVExplorer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DEVELOPMENT ENVIRONMENT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697480" cy="384048"/>
          </a:xfrm>
          <a:prstGeom prst="rect">
            <a:avLst/>
          </a:prstGeom>
          <a:solidFill>
            <a:srgbClr val="1B529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2697480" cy="438912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07008"/>
            <a:ext cx="26974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ArduPilot SITL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664208"/>
            <a:ext cx="26974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MAVProxy Console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2697480" cy="438912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21408"/>
            <a:ext cx="26974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ArduCopter Firmware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822960"/>
            <a:ext cx="269748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8229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46120" y="1207008"/>
            <a:ext cx="2697480" cy="438912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207008"/>
            <a:ext cx="26974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DroneKit-Python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664208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1664208"/>
            <a:ext cx="26974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pymavlink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2121408"/>
            <a:ext cx="2697480" cy="438912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2121408"/>
            <a:ext cx="26974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MAVLink Protocol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822960"/>
            <a:ext cx="2697480" cy="38404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8229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/ AI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1207008"/>
            <a:ext cx="2697480" cy="438912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207008"/>
            <a:ext cx="26974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OpenCV (cv2)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1664208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664208"/>
            <a:ext cx="26974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NumPy arrays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2121408"/>
            <a:ext cx="2697480" cy="438912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2121408"/>
            <a:ext cx="26974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HSV color detection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34640"/>
            <a:ext cx="2697480" cy="38404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8346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3218688"/>
            <a:ext cx="2697480" cy="438912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218688"/>
            <a:ext cx="26974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matplotlib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675888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675888"/>
            <a:ext cx="26974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 3.12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133088"/>
            <a:ext cx="2697480" cy="438912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133088"/>
            <a:ext cx="26974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.BIN log files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46120" y="2834640"/>
            <a:ext cx="2697480" cy="384048"/>
          </a:xfrm>
          <a:prstGeom prst="rect">
            <a:avLst/>
          </a:prstGeom>
          <a:solidFill>
            <a:srgbClr val="9966CC"/>
          </a:solidFill>
          <a:ln/>
        </p:spPr>
      </p:sp>
      <p:sp>
        <p:nvSpPr>
          <p:cNvPr id="37" name="Text 35"/>
          <p:cNvSpPr/>
          <p:nvPr/>
        </p:nvSpPr>
        <p:spPr>
          <a:xfrm>
            <a:off x="3246120" y="28346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246120" y="3218688"/>
            <a:ext cx="2697480" cy="438912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39" name="Text 37"/>
          <p:cNvSpPr/>
          <p:nvPr/>
        </p:nvSpPr>
        <p:spPr>
          <a:xfrm>
            <a:off x="3246120" y="3218688"/>
            <a:ext cx="26974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Pixhawk 2.4.8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46120" y="3675888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246120" y="3675888"/>
            <a:ext cx="26974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EMAX 2216 KV880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46120" y="4133088"/>
            <a:ext cx="2697480" cy="438912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43" name="Text 41"/>
          <p:cNvSpPr/>
          <p:nvPr/>
        </p:nvSpPr>
        <p:spPr>
          <a:xfrm>
            <a:off x="3246120" y="4133088"/>
            <a:ext cx="26974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4S LiPo Battery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26480" y="2834640"/>
            <a:ext cx="2697480" cy="384048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45" name="Text 43"/>
          <p:cNvSpPr/>
          <p:nvPr/>
        </p:nvSpPr>
        <p:spPr>
          <a:xfrm>
            <a:off x="6126480" y="28346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126480" y="3218688"/>
            <a:ext cx="2697480" cy="438912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47" name="Text 45"/>
          <p:cNvSpPr/>
          <p:nvPr/>
        </p:nvSpPr>
        <p:spPr>
          <a:xfrm>
            <a:off x="6126480" y="3218688"/>
            <a:ext cx="26974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Linux Mint 22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126480" y="3675888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126480" y="3675888"/>
            <a:ext cx="26974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Ubuntu 24.04 base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126480" y="4133088"/>
            <a:ext cx="2697480" cy="438912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51" name="Text 49"/>
          <p:cNvSpPr/>
          <p:nvPr/>
        </p:nvSpPr>
        <p:spPr>
          <a:xfrm>
            <a:off x="6126480" y="4133088"/>
            <a:ext cx="26974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 venv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7315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5" name="Shape 3"/>
          <p:cNvSpPr/>
          <p:nvPr/>
        </p:nvSpPr>
        <p:spPr>
          <a:xfrm>
            <a:off x="4663440" y="822960"/>
            <a:ext cx="4114800" cy="731520"/>
          </a:xfrm>
          <a:prstGeom prst="rect">
            <a:avLst/>
          </a:prstGeom>
          <a:solidFill>
            <a:srgbClr val="F0FFF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393192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DroneKit incompatible with Python 3.12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822960"/>
            <a:ext cx="411480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5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Patched MutableMapping: used sed to fix collections.abc import in dronekit __init__.py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3931920" cy="7315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645920"/>
            <a:ext cx="4114800" cy="731520"/>
          </a:xfrm>
          <a:prstGeom prst="rect">
            <a:avLst/>
          </a:prstGeom>
          <a:solidFill>
            <a:srgbClr val="F0FFF5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45920"/>
            <a:ext cx="393192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'past' module not found error on import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645920"/>
            <a:ext cx="411480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5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Installed 'future' package via pip install future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3931920" cy="7315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2468880"/>
            <a:ext cx="4114800" cy="731520"/>
          </a:xfrm>
          <a:prstGeom prst="rect">
            <a:avLst/>
          </a:prstGeom>
          <a:solidFill>
            <a:srgbClr val="F0FFF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468880"/>
            <a:ext cx="393192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sim_vehicle.py command not found in PATH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468880"/>
            <a:ext cx="411480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5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Reloaded .profile with '. ~/.profile' to add ArduPilot tools to PATH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931920" cy="7315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3291840"/>
            <a:ext cx="4114800" cy="731520"/>
          </a:xfrm>
          <a:prstGeom prst="rect">
            <a:avLst/>
          </a:prstGeom>
          <a:solidFill>
            <a:srgbClr val="F0FFF5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291840"/>
            <a:ext cx="393192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First ArduCopter build took 45+ minutes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291840"/>
            <a:ext cx="411480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5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Subsequent launches use cached binary — starts in seconds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3931920" cy="7315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4114800"/>
            <a:ext cx="4114800" cy="731520"/>
          </a:xfrm>
          <a:prstGeom prst="rect">
            <a:avLst/>
          </a:prstGeom>
          <a:solidFill>
            <a:srgbClr val="F0FFF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114800"/>
            <a:ext cx="393192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Vision landing detecting false positives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4114800"/>
            <a:ext cx="411480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5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Tuned HSV green range (40-80, 70-255) to reduce ambient light interference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892040"/>
            <a:ext cx="8412480" cy="82296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SUMMARY — ALL DELIVERABLES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822960"/>
            <a:ext cx="3977640" cy="594360"/>
          </a:xfrm>
          <a:prstGeom prst="rect">
            <a:avLst/>
          </a:prstGeom>
          <a:solidFill>
            <a:srgbClr val="F0FF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8229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 Frame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8229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360 X-frame 450mm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34840" y="82296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41148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50876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1508760"/>
            <a:ext cx="39776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5087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&amp; Propulsion Report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1508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Motor, ESC, battery, TWR calc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34840" y="150876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2194560"/>
            <a:ext cx="41148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19456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2194560"/>
            <a:ext cx="3977640" cy="594360"/>
          </a:xfrm>
          <a:prstGeom prst="rect">
            <a:avLst/>
          </a:prstGeom>
          <a:solidFill>
            <a:srgbClr val="F0FFF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194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Controller Config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21945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copter.parm ArduPilot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34840" y="219456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74320" y="2880360"/>
            <a:ext cx="41148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88036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2880360"/>
            <a:ext cx="39776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8803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DroneKit Mission Code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2880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mission.py — tested on SITL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34840" y="288036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74320" y="3566160"/>
            <a:ext cx="41148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56616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" y="3566160"/>
            <a:ext cx="3977640" cy="594360"/>
          </a:xfrm>
          <a:prstGeom prst="rect">
            <a:avLst/>
          </a:prstGeom>
          <a:solidFill>
            <a:srgbClr val="F0FFF8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566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 Avoidance Code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017520" y="35661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obstacle_avoidance.py — OpenCV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34840" y="356616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74320" y="4251960"/>
            <a:ext cx="41148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25196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5800" y="4251960"/>
            <a:ext cx="39776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42519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Landing Code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017520" y="42519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vision_landing.py — pad detection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34840" y="425196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754880" y="822960"/>
            <a:ext cx="41148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82296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166360" y="822960"/>
            <a:ext cx="3977640" cy="594360"/>
          </a:xfrm>
          <a:prstGeom prst="rect">
            <a:avLst/>
          </a:prstGeom>
          <a:solidFill>
            <a:srgbClr val="F0FFF8"/>
          </a:solidFill>
          <a:ln/>
        </p:spPr>
      </p:sp>
      <p:sp>
        <p:nvSpPr>
          <p:cNvPr id="43" name="Text 41"/>
          <p:cNvSpPr/>
          <p:nvPr/>
        </p:nvSpPr>
        <p:spPr>
          <a:xfrm>
            <a:off x="5212080" y="8229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Geo-fence &amp; Compliance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498080" y="8229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DGCA rules + ArduPilot config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915400" y="82296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754880" y="1508760"/>
            <a:ext cx="41148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7" name="Text 45"/>
          <p:cNvSpPr/>
          <p:nvPr/>
        </p:nvSpPr>
        <p:spPr>
          <a:xfrm>
            <a:off x="4754880" y="150876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166360" y="1508760"/>
            <a:ext cx="39776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0" y="15087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Flight Video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498080" y="1508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recorded SITL mission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915400" y="150876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754880" y="2194560"/>
            <a:ext cx="41148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3" name="Text 51"/>
          <p:cNvSpPr/>
          <p:nvPr/>
        </p:nvSpPr>
        <p:spPr>
          <a:xfrm>
            <a:off x="4754880" y="219456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166360" y="2194560"/>
            <a:ext cx="3977640" cy="594360"/>
          </a:xfrm>
          <a:prstGeom prst="rect">
            <a:avLst/>
          </a:prstGeom>
          <a:solidFill>
            <a:srgbClr val="F0FFF8"/>
          </a:solidFill>
          <a:ln/>
        </p:spPr>
      </p:sp>
      <p:sp>
        <p:nvSpPr>
          <p:cNvPr id="55" name="Text 53"/>
          <p:cNvSpPr/>
          <p:nvPr/>
        </p:nvSpPr>
        <p:spPr>
          <a:xfrm>
            <a:off x="5212080" y="2194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Logs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498080" y="21945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00000001-4.BIN from ArduPilot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915400" y="219456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754880" y="2880360"/>
            <a:ext cx="41148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9" name="Text 57"/>
          <p:cNvSpPr/>
          <p:nvPr/>
        </p:nvSpPr>
        <p:spPr>
          <a:xfrm>
            <a:off x="4754880" y="288036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166360" y="2880360"/>
            <a:ext cx="39776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5212080" y="28803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Report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7498080" y="2880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.docx documentation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915400" y="288036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754880" y="3566160"/>
            <a:ext cx="41148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5" name="Text 63"/>
          <p:cNvSpPr/>
          <p:nvPr/>
        </p:nvSpPr>
        <p:spPr>
          <a:xfrm>
            <a:off x="4754880" y="356616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5166360" y="3566160"/>
            <a:ext cx="3977640" cy="594360"/>
          </a:xfrm>
          <a:prstGeom prst="rect">
            <a:avLst/>
          </a:prstGeom>
          <a:solidFill>
            <a:srgbClr val="F0FFF8"/>
          </a:solidFill>
          <a:ln/>
        </p:spPr>
      </p:sp>
      <p:sp>
        <p:nvSpPr>
          <p:cNvPr id="67" name="Text 65"/>
          <p:cNvSpPr/>
          <p:nvPr/>
        </p:nvSpPr>
        <p:spPr>
          <a:xfrm>
            <a:off x="5212080" y="3566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PPT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7498080" y="35661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slides — this presentation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915400" y="356616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 Outcomes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8046720" cy="45720"/>
          </a:xfrm>
          <a:prstGeom prst="rect">
            <a:avLst/>
          </a:prstGeom>
          <a:solidFill>
            <a:srgbClr val="1B529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Aerodynamics &amp; UAV physics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Drone CAD design (Fusion 360)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Power system engineering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Flight control (Pixhawk/ArduPilot)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Python-based drone automation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148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AI-driven computer vision (OpenCV)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606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Autonomous navigation logic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3063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Real-world UAV regulatory compliance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886200"/>
            <a:ext cx="8046720" cy="45720"/>
          </a:xfrm>
          <a:prstGeom prst="rect">
            <a:avLst/>
          </a:prstGeom>
          <a:solidFill>
            <a:srgbClr val="1B529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23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AeroNavX — Built from scratch. Flown autonomously. Documented completely.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17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Unlox Drone Engineering Program  |  April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AeroNavX — Autonomous Drone Project</dc:title>
  <dc:subject>PptxGenJS Presentation</dc:subject>
  <dc:creator>PptxGenJS</dc:creator>
  <cp:lastModifiedBy>PptxGenJS</cp:lastModifiedBy>
  <cp:revision>1</cp:revision>
  <dcterms:created xsi:type="dcterms:W3CDTF">2026-04-25T08:54:18Z</dcterms:created>
  <dcterms:modified xsi:type="dcterms:W3CDTF">2026-04-25T08:54:18Z</dcterms:modified>
</cp:coreProperties>
</file>